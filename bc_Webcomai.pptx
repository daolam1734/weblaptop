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305" r:id="rId3"/>
    <p:sldId id="309" r:id="rId4"/>
    <p:sldId id="323" r:id="rId5"/>
    <p:sldId id="310" r:id="rId6"/>
    <p:sldId id="311" r:id="rId7"/>
    <p:sldId id="324" r:id="rId8"/>
    <p:sldId id="334" r:id="rId9"/>
    <p:sldId id="312" r:id="rId10"/>
    <p:sldId id="325" r:id="rId11"/>
    <p:sldId id="326" r:id="rId12"/>
    <p:sldId id="313" r:id="rId13"/>
    <p:sldId id="328" r:id="rId14"/>
    <p:sldId id="335" r:id="rId15"/>
    <p:sldId id="336" r:id="rId16"/>
    <p:sldId id="314" r:id="rId17"/>
    <p:sldId id="332" r:id="rId18"/>
    <p:sldId id="333" r:id="rId19"/>
    <p:sldId id="30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985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9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443B8-A35E-449D-90F0-676419CEF3C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60A3E-C2F8-4C38-82BA-52C7B65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126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0FA47-8B15-437F-B746-4611B2E50E7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FC3B5-3211-45B9-A75F-21C4D8AB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602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36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24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471"/>
            <a:ext cx="9144000" cy="5715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896533"/>
            <a:ext cx="9144000" cy="8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976" y="1427584"/>
            <a:ext cx="8890532" cy="1871561"/>
          </a:xfrm>
        </p:spPr>
        <p:txBody>
          <a:bodyPr>
            <a:normAutofit fontScale="90000"/>
          </a:bodyPr>
          <a:lstStyle/>
          <a:p>
            <a:r>
              <a:rPr lang="vi-VN" sz="3100" b="1" dirty="0" smtClean="0">
                <a:latin typeface="+mn-lt"/>
              </a:rPr>
              <a:t/>
            </a:r>
            <a:br>
              <a:rPr lang="vi-VN" sz="3100" b="1" dirty="0" smtClean="0">
                <a:latin typeface="+mn-lt"/>
              </a:rPr>
            </a:br>
            <a:r>
              <a:rPr lang="vi-VN" b="1" dirty="0">
                <a:solidFill>
                  <a:srgbClr val="FF0000"/>
                </a:solidFill>
                <a:latin typeface="+mn-lt"/>
              </a:rPr>
              <a:t/>
            </a:r>
            <a:br>
              <a:rPr lang="vi-VN" b="1" dirty="0">
                <a:solidFill>
                  <a:srgbClr val="FF0000"/>
                </a:solidFill>
                <a:latin typeface="+mn-lt"/>
              </a:rPr>
            </a:br>
            <a:r>
              <a:rPr lang="en-US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TÀI</a:t>
            </a:r>
            <a:r>
              <a:rPr lang="en-US" sz="33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XÂY DỰNG WEBSITE BÁN LAPTOP</a:t>
            </a:r>
            <a:r>
              <a:rPr lang="vi-VN" dirty="0">
                <a:latin typeface="+mn-lt"/>
              </a:rPr>
              <a:t/>
            </a:r>
            <a:br>
              <a:rPr lang="vi-VN" dirty="0">
                <a:latin typeface="+mn-lt"/>
              </a:rPr>
            </a:br>
            <a:endParaRPr sz="73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3599"/>
            <a:ext cx="9144000" cy="9144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E100F5B-EAE5-3C9C-9E49-85BB88E05940}"/>
              </a:ext>
            </a:extLst>
          </p:cNvPr>
          <p:cNvSpPr txBox="1"/>
          <p:nvPr/>
        </p:nvSpPr>
        <p:spPr>
          <a:xfrm>
            <a:off x="5438082" y="3664905"/>
            <a:ext cx="35381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</a:pPr>
            <a:r>
              <a:rPr lang="vi-VN" dirty="0" smtClean="0">
                <a:latin typeface="+mj-lt"/>
              </a:rPr>
              <a:t>Giảng viên hướng dẫn</a:t>
            </a:r>
            <a:r>
              <a:rPr lang="vi-VN" i="1" dirty="0">
                <a:latin typeface="+mj-lt"/>
              </a:rPr>
              <a:t/>
            </a:r>
            <a:br>
              <a:rPr lang="vi-VN" i="1" dirty="0">
                <a:latin typeface="+mj-lt"/>
              </a:rPr>
            </a:br>
            <a:r>
              <a:rPr lang="vi-VN" b="1" dirty="0" smtClean="0">
                <a:latin typeface="+mj-lt"/>
              </a:rPr>
              <a:t>Ths. </a:t>
            </a:r>
            <a:r>
              <a:rPr lang="en-US" b="1" dirty="0" err="1" smtClean="0">
                <a:latin typeface="+mj-lt"/>
              </a:rPr>
              <a:t>Phạm</a:t>
            </a:r>
            <a:r>
              <a:rPr lang="en-US" b="1" dirty="0" smtClean="0">
                <a:latin typeface="+mj-lt"/>
              </a:rPr>
              <a:t> </a:t>
            </a:r>
            <a:r>
              <a:rPr lang="en-US" b="1" dirty="0" err="1" smtClean="0">
                <a:latin typeface="+mj-lt"/>
              </a:rPr>
              <a:t>Thị</a:t>
            </a:r>
            <a:r>
              <a:rPr lang="en-US" b="1" dirty="0" smtClean="0">
                <a:latin typeface="+mj-lt"/>
              </a:rPr>
              <a:t> </a:t>
            </a:r>
            <a:r>
              <a:rPr lang="en-US" b="1" dirty="0" err="1" smtClean="0">
                <a:latin typeface="+mj-lt"/>
              </a:rPr>
              <a:t>Trúc</a:t>
            </a:r>
            <a:r>
              <a:rPr lang="en-US" b="1" dirty="0" smtClean="0">
                <a:latin typeface="+mj-lt"/>
              </a:rPr>
              <a:t> Mai</a:t>
            </a:r>
            <a:endParaRPr lang="vi-VN" b="1" dirty="0">
              <a:latin typeface="+mj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EDA1CFFB-36CB-2D13-F7C0-DF8669833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900024"/>
              </p:ext>
            </p:extLst>
          </p:nvPr>
        </p:nvGraphicFramePr>
        <p:xfrm>
          <a:off x="211974" y="3840479"/>
          <a:ext cx="5411585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3949">
                  <a:extLst>
                    <a:ext uri="{9D8B030D-6E8A-4147-A177-3AD203B41FA5}">
                      <a16:colId xmlns="" xmlns:a16="http://schemas.microsoft.com/office/drawing/2014/main" val="3772254492"/>
                    </a:ext>
                  </a:extLst>
                </a:gridCol>
                <a:gridCol w="1212197">
                  <a:extLst>
                    <a:ext uri="{9D8B030D-6E8A-4147-A177-3AD203B41FA5}">
                      <a16:colId xmlns="" xmlns:a16="http://schemas.microsoft.com/office/drawing/2014/main" val="1524444546"/>
                    </a:ext>
                  </a:extLst>
                </a:gridCol>
                <a:gridCol w="1615439">
                  <a:extLst>
                    <a:ext uri="{9D8B030D-6E8A-4147-A177-3AD203B41FA5}">
                      <a16:colId xmlns="" xmlns:a16="http://schemas.microsoft.com/office/drawing/2014/main" val="880988693"/>
                    </a:ext>
                  </a:extLst>
                </a:gridCol>
              </a:tblGrid>
              <a:tr h="321241">
                <a:tc gridSpan="3">
                  <a:txBody>
                    <a:bodyPr/>
                    <a:lstStyle/>
                    <a:p>
                      <a:r>
                        <a:rPr lang="vi-VN" b="1" dirty="0" smtClean="0">
                          <a:latin typeface="+mj-lt"/>
                        </a:rPr>
                        <a:t>Sinh </a:t>
                      </a:r>
                      <a:r>
                        <a:rPr lang="vi-VN" b="1" dirty="0">
                          <a:latin typeface="+mj-lt"/>
                        </a:rPr>
                        <a:t>viên thực hiện: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53551658"/>
                  </a:ext>
                </a:extLst>
              </a:tr>
              <a:tr h="185278">
                <a:tc>
                  <a:txBody>
                    <a:bodyPr/>
                    <a:lstStyle/>
                    <a:p>
                      <a:r>
                        <a:rPr lang="en-US" b="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Nguyễn Trường Vũ</a:t>
                      </a:r>
                      <a:endParaRPr lang="en-US" b="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b="0" baseline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Đào Công Hoàng Lam</a:t>
                      </a:r>
                      <a:endParaRPr lang="en-US" b="0" baseline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b="0" baseline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Trần Dinh Hiển</a:t>
                      </a:r>
                      <a:endParaRPr lang="en-US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mtClean="0">
                          <a:latin typeface="+mj-lt"/>
                        </a:rPr>
                        <a:t>1101220</a:t>
                      </a:r>
                      <a:r>
                        <a:rPr lang="en-US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110122011110122220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mtClean="0">
                          <a:latin typeface="+mj-lt"/>
                        </a:rPr>
                        <a:t>DA22</a:t>
                      </a:r>
                      <a:r>
                        <a:rPr lang="en-US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TTA</a:t>
                      </a:r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DA22TTA</a:t>
                      </a:r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DA22TTA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4865112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20040" y="227255"/>
            <a:ext cx="8823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>
                <a:solidFill>
                  <a:srgbClr val="FF0000"/>
                </a:solidFill>
                <a:latin typeface="+mj-lt"/>
              </a:rPr>
              <a:t>BÁO CÁO ĐỒ ÁN MÔN HỌC </a:t>
            </a:r>
            <a:br>
              <a:rPr lang="vi-VN" sz="2400" b="1" dirty="0">
                <a:solidFill>
                  <a:srgbClr val="FF0000"/>
                </a:solidFill>
                <a:latin typeface="+mj-lt"/>
              </a:rPr>
            </a:b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ỨNG DỤNG WEB VỚI MÃ NGUỒN MỞ</a:t>
            </a:r>
            <a:r>
              <a:rPr lang="vi-VN" sz="2400" dirty="0">
                <a:latin typeface="+mj-lt"/>
              </a:rPr>
              <a:t/>
            </a:r>
            <a:br>
              <a:rPr lang="vi-VN" sz="2400" dirty="0">
                <a:latin typeface="+mj-lt"/>
              </a:rPr>
            </a:br>
            <a:endParaRPr lang="en-US" sz="2400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LÝ DO CHỌN ĐỀ TÀI</a:t>
            </a:r>
            <a:endParaRPr lang="vi-V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45" y="1452880"/>
            <a:ext cx="8229600" cy="4673283"/>
          </a:xfrm>
        </p:spPr>
        <p:txBody>
          <a:bodyPr>
            <a:normAutofit/>
          </a:bodyPr>
          <a:lstStyle/>
          <a:p>
            <a:pPr fontAlgn="base">
              <a:buFontTx/>
              <a:buChar char="-"/>
            </a:pPr>
            <a:r>
              <a:rPr lang="vi-VN" smtClean="0"/>
              <a:t>Công </a:t>
            </a:r>
            <a:r>
              <a:rPr lang="vi-VN"/>
              <a:t>nghệ thông tin và Internet phát triển mạnh, làm thay đổi thói quen mua sắm của người tiêu </a:t>
            </a:r>
            <a:r>
              <a:rPr lang="vi-VN" smtClean="0"/>
              <a:t>dùng</a:t>
            </a:r>
            <a:endParaRPr lang="en-US" smtClean="0"/>
          </a:p>
          <a:p>
            <a:pPr fontAlgn="base">
              <a:buFontTx/>
              <a:buChar char="-"/>
            </a:pPr>
            <a:r>
              <a:rPr lang="vi-VN"/>
              <a:t>Laptop là thiết bị quan trọng trong: Học </a:t>
            </a:r>
            <a:r>
              <a:rPr lang="vi-VN" smtClean="0"/>
              <a:t>tập</a:t>
            </a:r>
            <a:r>
              <a:rPr lang="en-US" smtClean="0"/>
              <a:t>, </a:t>
            </a:r>
            <a:r>
              <a:rPr lang="en-US"/>
              <a:t>l</a:t>
            </a:r>
            <a:r>
              <a:rPr lang="vi-VN" smtClean="0"/>
              <a:t>àm việc</a:t>
            </a:r>
            <a:r>
              <a:rPr lang="en-US" smtClean="0"/>
              <a:t>, n</a:t>
            </a:r>
            <a:r>
              <a:rPr lang="vi-VN" smtClean="0"/>
              <a:t>ghiên cứu</a:t>
            </a:r>
            <a:endParaRPr lang="en-US" smtClean="0"/>
          </a:p>
          <a:p>
            <a:pPr fontAlgn="base">
              <a:buFontTx/>
              <a:buChar char="-"/>
            </a:pPr>
            <a:r>
              <a:rPr lang="en-US" smtClean="0"/>
              <a:t>X</a:t>
            </a:r>
            <a:r>
              <a:rPr lang="vi-VN" smtClean="0"/>
              <a:t>ây </a:t>
            </a:r>
            <a:r>
              <a:rPr lang="vi-VN"/>
              <a:t>dựng website bán laptop để: Quản lý kinh doanh hiệu </a:t>
            </a:r>
            <a:r>
              <a:rPr lang="vi-VN" smtClean="0"/>
              <a:t>quả</a:t>
            </a:r>
            <a:r>
              <a:rPr lang="en-US" smtClean="0"/>
              <a:t>,</a:t>
            </a:r>
            <a:r>
              <a:rPr lang="vi-VN" smtClean="0"/>
              <a:t> </a:t>
            </a:r>
            <a:r>
              <a:rPr lang="en-US" smtClean="0"/>
              <a:t>c</a:t>
            </a:r>
            <a:r>
              <a:rPr lang="vi-VN" smtClean="0"/>
              <a:t>ung </a:t>
            </a:r>
            <a:r>
              <a:rPr lang="vi-VN"/>
              <a:t>cấp thông tin sản phẩm đầy đủ, chính </a:t>
            </a:r>
            <a:r>
              <a:rPr lang="vi-VN" smtClean="0"/>
              <a:t>xác</a:t>
            </a:r>
            <a:r>
              <a:rPr lang="en-US" smtClean="0"/>
              <a:t>,</a:t>
            </a:r>
            <a:r>
              <a:rPr lang="vi-VN" smtClean="0"/>
              <a:t> </a:t>
            </a:r>
            <a:r>
              <a:rPr lang="en-US" smtClean="0"/>
              <a:t>h</a:t>
            </a:r>
            <a:r>
              <a:rPr lang="vi-VN" smtClean="0"/>
              <a:t>ỗ </a:t>
            </a:r>
            <a:r>
              <a:rPr lang="vi-VN"/>
              <a:t>trợ người dùng tìm kiếm, lựa chọn và mua sắm thuận tiện</a:t>
            </a:r>
            <a:endParaRPr lang="vi-VN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52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PHẦN 1</a:t>
            </a:r>
            <a:r>
              <a:rPr lang="vi-VN" sz="3200" smtClean="0"/>
              <a:t>: </a:t>
            </a:r>
            <a:r>
              <a:rPr lang="en-US" sz="3200" dirty="0" smtClean="0"/>
              <a:t>CƠ SỞ </a:t>
            </a:r>
            <a:r>
              <a:rPr lang="vi-VN" sz="3200" dirty="0" smtClean="0"/>
              <a:t>LÝ THUYẾT</a:t>
            </a:r>
            <a:endParaRPr lang="vi-VN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AutoShape 8" descr="Empower Your Projects with Mindrops' Node.js Development Servic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79" y="1317995"/>
            <a:ext cx="2800465" cy="213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Logo web đa năng logo html được thiết kế với phong cách đa dạng và tinh tế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46" y="1285813"/>
            <a:ext cx="2170545" cy="217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Write Better CSS: From Hell to Heaven (Part 1)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6" descr="Write Better CSS: From Hell to Heaven (Part 1)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739" y="1145731"/>
            <a:ext cx="1762662" cy="2482889"/>
          </a:xfrm>
          <a:prstGeom prst="rect">
            <a:avLst/>
          </a:prstGeom>
        </p:spPr>
      </p:pic>
      <p:pic>
        <p:nvPicPr>
          <p:cNvPr id="2056" name="Picture 8" descr="XAMPP là gì? Hướng dẫn chi tiết cài đặt XAMPP trong Window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30" y="3820053"/>
            <a:ext cx="3963843" cy="2226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Tập tin:Bootstrap logo.svg – Wikipedia tiếng Việ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197" y="3672937"/>
            <a:ext cx="3160403" cy="252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36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507240"/>
          </a:xfrm>
        </p:spPr>
        <p:txBody>
          <a:bodyPr/>
          <a:lstStyle/>
          <a:p>
            <a:r>
              <a:rPr lang="vi-VN" sz="3200" dirty="0" smtClean="0"/>
              <a:t>CHƯƠNG</a:t>
            </a:r>
            <a:r>
              <a:rPr lang="en-US" sz="3200" dirty="0" smtClean="0"/>
              <a:t> 2</a:t>
            </a:r>
            <a:r>
              <a:rPr lang="vi-VN" sz="3200" dirty="0" smtClean="0"/>
              <a:t> : </a:t>
            </a:r>
            <a:r>
              <a:rPr lang="en-US" sz="3200" dirty="0"/>
              <a:t>PHÂN TÍCH THIẾT KẾ HỆ THỐNG</a:t>
            </a:r>
            <a:endParaRPr lang="vi-VN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9" name="AutoShape 8" descr="Empower Your Projects with Mindrops' Node.js Development Servic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7975" y="1135966"/>
            <a:ext cx="2144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2.1 MÔ TẢ ĐỀ TÀI</a:t>
            </a:r>
          </a:p>
        </p:txBody>
      </p:sp>
      <p:sp>
        <p:nvSpPr>
          <p:cNvPr id="5" name="Rectangle 4"/>
          <p:cNvSpPr/>
          <p:nvPr/>
        </p:nvSpPr>
        <p:spPr>
          <a:xfrm>
            <a:off x="460375" y="1614499"/>
            <a:ext cx="76047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Xây dựng website bán laptop cho phép: </a:t>
            </a: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Tìm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kiếm và xem chi tiết sản phẩm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sánh giá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Đặt hàng</a:t>
            </a: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, thanh toán</a:t>
            </a: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và theo dõi trạng thái đơn hàng </a:t>
            </a: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Hỗ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trợ quản trị viên: </a:t>
            </a: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Quản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lý sản phẩm, hãng sản xuất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Quản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lý giá bán, tồn kho </a:t>
            </a: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Quản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lý đơn hàng và khách </a:t>
            </a: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diện thân thiện, dễ sử dụng </a:t>
            </a: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Đáp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ứng các nghiệp vụ cơ bản của hệ thống thương mại điện tử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7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3306" y="172001"/>
            <a:ext cx="10302788" cy="507240"/>
          </a:xfrm>
        </p:spPr>
        <p:txBody>
          <a:bodyPr/>
          <a:lstStyle/>
          <a:p>
            <a:pPr algn="l"/>
            <a:r>
              <a:rPr lang="vi-VN" sz="3200" dirty="0">
                <a:latin typeface="+mj-lt"/>
              </a:rPr>
              <a:t>CHƯƠNG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THIẾT KẾ HỆ THỐNG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1" y="1037053"/>
            <a:ext cx="8229600" cy="467328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PHÂN TÍCH THIẾT KẾ HỆ THỐNG</a:t>
            </a:r>
          </a:p>
          <a:p>
            <a:pPr marL="0" indent="0" fontAlgn="base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2.2.1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3215" y="5959827"/>
            <a:ext cx="338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2.1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110" y="1806410"/>
            <a:ext cx="6567054" cy="415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7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6950" y="203580"/>
            <a:ext cx="9547667" cy="507240"/>
          </a:xfrm>
        </p:spPr>
        <p:txBody>
          <a:bodyPr/>
          <a:lstStyle/>
          <a:p>
            <a:r>
              <a:rPr lang="vi-VN" sz="3200" dirty="0">
                <a:latin typeface="+mn-lt"/>
              </a:rPr>
              <a:t>CHƯƠNG</a:t>
            </a:r>
            <a:r>
              <a:rPr lang="en-US" sz="3200" dirty="0">
                <a:latin typeface="+mn-lt"/>
              </a:rPr>
              <a:t> </a:t>
            </a:r>
            <a:r>
              <a:rPr lang="en-US" sz="3200" dirty="0">
                <a:latin typeface="+mn-lt"/>
                <a:cs typeface="Times New Roman" panose="02020603050405020304" pitchFamily="18" charset="0"/>
              </a:rPr>
              <a:t>2</a:t>
            </a:r>
            <a:r>
              <a:rPr lang="vi-VN" sz="3200" dirty="0">
                <a:latin typeface="+mn-lt"/>
                <a:cs typeface="Times New Roman" panose="02020603050405020304" pitchFamily="18" charset="0"/>
              </a:rPr>
              <a:t> : </a:t>
            </a:r>
            <a:r>
              <a:rPr lang="en-US" sz="3200" dirty="0">
                <a:latin typeface="+mn-lt"/>
                <a:cs typeface="Times New Roman" panose="02020603050405020304" pitchFamily="18" charset="0"/>
              </a:rPr>
              <a:t>PHÂN TÍCH THIẾT KẾ HỆ THỐNG</a:t>
            </a:r>
            <a:endParaRPr lang="vi-VN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1" y="1037053"/>
            <a:ext cx="8229600" cy="467328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smtClean="0">
                <a:latin typeface="+mn-lt"/>
                <a:cs typeface="Times New Roman" panose="02020603050405020304" pitchFamily="18" charset="0"/>
              </a:rPr>
              <a:t>2.2.2 Mô hình thực thể kết hợp</a:t>
            </a:r>
            <a:endParaRPr lang="vi-VN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7237" y="5931081"/>
            <a:ext cx="338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 smtClean="0">
                <a:cs typeface="Times New Roman" panose="02020603050405020304" pitchFamily="18" charset="0"/>
              </a:rPr>
              <a:t>Hình</a:t>
            </a:r>
            <a:r>
              <a:rPr lang="en-US" i="1" dirty="0" smtClean="0">
                <a:cs typeface="Times New Roman" panose="02020603050405020304" pitchFamily="18" charset="0"/>
              </a:rPr>
              <a:t> </a:t>
            </a:r>
            <a:r>
              <a:rPr lang="en-US" i="1" smtClean="0">
                <a:cs typeface="Times New Roman" panose="02020603050405020304" pitchFamily="18" charset="0"/>
              </a:rPr>
              <a:t>2.2 Mô hình thực thể kết hợp</a:t>
            </a:r>
            <a:endParaRPr lang="en-US" i="1" dirty="0"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Image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299" y="1562624"/>
            <a:ext cx="7363792" cy="436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7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7858" y="214699"/>
            <a:ext cx="9379716" cy="507240"/>
          </a:xfrm>
        </p:spPr>
        <p:txBody>
          <a:bodyPr/>
          <a:lstStyle/>
          <a:p>
            <a:r>
              <a:rPr lang="vi-VN" sz="3200" dirty="0"/>
              <a:t>CHƯƠNG</a:t>
            </a:r>
            <a:r>
              <a:rPr lang="en-US" sz="3200" dirty="0"/>
              <a:t> 2</a:t>
            </a:r>
            <a:r>
              <a:rPr lang="vi-VN" sz="3200" dirty="0"/>
              <a:t> : </a:t>
            </a:r>
            <a:r>
              <a:rPr lang="en-US" sz="3200" dirty="0"/>
              <a:t>PHÂN TÍCH THIẾT KẾ HỆ THỐNG</a:t>
            </a:r>
            <a:endParaRPr lang="vi-V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1" y="1037053"/>
            <a:ext cx="8229600" cy="467328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 smtClean="0"/>
              <a:t>2.2.3 </a:t>
            </a:r>
            <a:r>
              <a:rPr lang="en-US" b="1" err="1" smtClean="0"/>
              <a:t>Mô</a:t>
            </a:r>
            <a:r>
              <a:rPr lang="en-US" b="1" smtClean="0"/>
              <a:t> hình</a:t>
            </a:r>
            <a:r>
              <a:rPr lang="en-US" b="1"/>
              <a:t> </a:t>
            </a:r>
            <a:r>
              <a:rPr lang="en-US" b="1" smtClean="0"/>
              <a:t>luận lý</a:t>
            </a:r>
            <a:endParaRPr lang="vi-V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7237" y="5931081"/>
            <a:ext cx="338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 2.3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smtClean="0">
                <a:latin typeface="Arial" panose="020B0604020202020204" pitchFamily="34" charset="0"/>
                <a:cs typeface="Arial" panose="020B0604020202020204" pitchFamily="34" charset="0"/>
              </a:rPr>
              <a:t>luận lý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343" y="1642889"/>
            <a:ext cx="7740766" cy="431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4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7858" y="214698"/>
            <a:ext cx="9379716" cy="507240"/>
          </a:xfrm>
        </p:spPr>
        <p:txBody>
          <a:bodyPr/>
          <a:lstStyle/>
          <a:p>
            <a:r>
              <a:rPr lang="vi-VN" sz="3200" dirty="0"/>
              <a:t>CHƯƠNG</a:t>
            </a:r>
            <a:r>
              <a:rPr lang="en-US" sz="3200" dirty="0"/>
              <a:t> 2</a:t>
            </a:r>
            <a:r>
              <a:rPr lang="vi-VN" sz="3200" dirty="0"/>
              <a:t> : </a:t>
            </a:r>
            <a:r>
              <a:rPr lang="en-US" sz="3200" dirty="0"/>
              <a:t>PHÂN TÍCH THIẾT KẾ HỆ THỐNG</a:t>
            </a:r>
            <a:endParaRPr lang="vi-V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1" y="1037053"/>
            <a:ext cx="8229600" cy="467328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smtClean="0"/>
              <a:t>2.2.4 </a:t>
            </a:r>
            <a:r>
              <a:rPr lang="en-US" b="1" err="1" smtClean="0"/>
              <a:t>Mô</a:t>
            </a:r>
            <a:r>
              <a:rPr lang="en-US" b="1" smtClean="0"/>
              <a:t> hình</a:t>
            </a:r>
            <a:r>
              <a:rPr lang="en-US" b="1"/>
              <a:t> </a:t>
            </a:r>
            <a:r>
              <a:rPr lang="en-US" b="1" smtClean="0"/>
              <a:t>vật lý</a:t>
            </a:r>
            <a:endParaRPr lang="vi-V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7237" y="5931081"/>
            <a:ext cx="338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err="1" smtClean="0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i="1" smtClean="0">
                <a:latin typeface="Arial" panose="020B0604020202020204" pitchFamily="34" charset="0"/>
                <a:cs typeface="Arial" panose="020B0604020202020204" pitchFamily="34" charset="0"/>
              </a:rPr>
              <a:t> 2.4 </a:t>
            </a:r>
            <a:r>
              <a:rPr lang="en-US" i="1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smtClean="0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smtClean="0">
                <a:latin typeface="Arial" panose="020B0604020202020204" pitchFamily="34" charset="0"/>
                <a:cs typeface="Arial" panose="020B0604020202020204" pitchFamily="34" charset="0"/>
              </a:rPr>
              <a:t>vật lý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365" y="1532748"/>
            <a:ext cx="7530726" cy="441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9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8528" y="260029"/>
            <a:ext cx="9482353" cy="507240"/>
          </a:xfrm>
        </p:spPr>
        <p:txBody>
          <a:bodyPr/>
          <a:lstStyle/>
          <a:p>
            <a:r>
              <a:rPr lang="vi-VN" sz="3200" dirty="0"/>
              <a:t>CHƯƠNG</a:t>
            </a:r>
            <a:r>
              <a:rPr lang="en-US" sz="3200" dirty="0"/>
              <a:t> 2</a:t>
            </a:r>
            <a:r>
              <a:rPr lang="vi-VN" sz="3200" dirty="0"/>
              <a:t> : </a:t>
            </a:r>
            <a:r>
              <a:rPr lang="en-US" sz="3200" dirty="0"/>
              <a:t>PHÂN TÍCH THIẾT KẾ HỆ THỐNG</a:t>
            </a:r>
            <a:endParaRPr lang="vi-V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620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2.3 PHÁC THẢO GIAO DIỆN</a:t>
            </a:r>
          </a:p>
          <a:p>
            <a:pPr marL="0" indent="0" fontAlgn="base">
              <a:buNone/>
            </a:pPr>
            <a:endParaRPr lang="vi-V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53957" y="5954707"/>
            <a:ext cx="523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smtClean="0">
                <a:latin typeface="Arial" panose="020B0604020202020204" pitchFamily="34" charset="0"/>
                <a:cs typeface="Arial" panose="020B0604020202020204" pitchFamily="34" charset="0"/>
              </a:rPr>
              <a:t>2.5:Phác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thảo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smtClean="0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smtClean="0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381" y="1594152"/>
            <a:ext cx="5791420" cy="434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3708" y="274638"/>
            <a:ext cx="9612982" cy="507240"/>
          </a:xfrm>
        </p:spPr>
        <p:txBody>
          <a:bodyPr/>
          <a:lstStyle/>
          <a:p>
            <a:r>
              <a:rPr lang="vi-VN" sz="3200" dirty="0">
                <a:latin typeface="+mj-lt"/>
              </a:rPr>
              <a:t>CHƯƠNG</a:t>
            </a:r>
            <a:r>
              <a:rPr lang="en-US" sz="3200" dirty="0"/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THIẾT KẾ HỆ THỐNG</a:t>
            </a:r>
            <a:endParaRPr lang="vi-VN" sz="32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6088"/>
            <a:ext cx="8229600" cy="620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PHÁC THẢO GIAO DIỆN</a:t>
            </a:r>
          </a:p>
          <a:p>
            <a:pPr marL="0" indent="0" fontAlgn="base">
              <a:buNone/>
            </a:pP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26765" y="5941497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10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311636" y="6011461"/>
            <a:ext cx="523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2.6: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giỏ hàng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948" y="1447669"/>
            <a:ext cx="5767162" cy="463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7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0411" y="269358"/>
            <a:ext cx="9416378" cy="507240"/>
          </a:xfrm>
        </p:spPr>
        <p:txBody>
          <a:bodyPr/>
          <a:lstStyle/>
          <a:p>
            <a:r>
              <a:rPr lang="vi-VN" sz="3200" dirty="0"/>
              <a:t>CHƯƠNG</a:t>
            </a:r>
            <a:r>
              <a:rPr lang="en-US" sz="3200" dirty="0"/>
              <a:t> 2</a:t>
            </a:r>
            <a:r>
              <a:rPr lang="vi-VN" sz="3200" dirty="0"/>
              <a:t> : </a:t>
            </a:r>
            <a:r>
              <a:rPr lang="en-US" sz="3200" dirty="0"/>
              <a:t>PHÂN TÍCH THIẾT KẾ HỆ THỐNG</a:t>
            </a:r>
            <a:endParaRPr lang="vi-V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620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2.3 PHÁC THẢO GIAO DIỆN</a:t>
            </a:r>
          </a:p>
          <a:p>
            <a:pPr marL="0" indent="0" fontAlgn="base">
              <a:buNone/>
            </a:pPr>
            <a:endParaRPr lang="vi-V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580583" y="5941497"/>
            <a:ext cx="461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15412" y="5601210"/>
            <a:ext cx="523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2.6: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Phác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thảo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1691640"/>
            <a:ext cx="71628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797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1" y="274638"/>
            <a:ext cx="8728364" cy="507240"/>
          </a:xfrm>
        </p:spPr>
        <p:txBody>
          <a:bodyPr/>
          <a:lstStyle/>
          <a:p>
            <a:r>
              <a:rPr lang="en-US" sz="3200" dirty="0"/>
              <a:t>CHƯƠNG 3: XÂY DỰNG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3.1 GIỚI THIỆU GIAO </a:t>
            </a:r>
            <a:r>
              <a:rPr lang="en-US" b="1" dirty="0" smtClean="0"/>
              <a:t>DIỆN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vi-VN" b="1" dirty="0" smtClean="0"/>
              <a:t>3.1.1 </a:t>
            </a:r>
            <a:r>
              <a:rPr lang="vi-VN" b="1" dirty="0"/>
              <a:t>Thanh thực đơn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608291" y="5941497"/>
            <a:ext cx="43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23837" y="3467247"/>
            <a:ext cx="403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3.1: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Thanh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574" y="2199499"/>
            <a:ext cx="6991033" cy="105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97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1" y="274638"/>
            <a:ext cx="8728364" cy="507240"/>
          </a:xfrm>
        </p:spPr>
        <p:txBody>
          <a:bodyPr/>
          <a:lstStyle/>
          <a:p>
            <a:r>
              <a:rPr lang="en-US" sz="3200" dirty="0"/>
              <a:t>CHƯƠNG 3: XÂY DỰNG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3.1 GIỚI THIỆU GIAO </a:t>
            </a:r>
            <a:r>
              <a:rPr lang="en-US" b="1" dirty="0" smtClean="0"/>
              <a:t>DIỆN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smtClean="0"/>
              <a:t>3.1.2 </a:t>
            </a:r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diện</a:t>
            </a:r>
            <a:r>
              <a:rPr lang="en-US" b="1" dirty="0"/>
              <a:t> </a:t>
            </a:r>
            <a:r>
              <a:rPr lang="en-US" b="1" dirty="0" err="1"/>
              <a:t>trang</a:t>
            </a:r>
            <a:r>
              <a:rPr lang="en-US" b="1" dirty="0"/>
              <a:t> </a:t>
            </a:r>
            <a:r>
              <a:rPr lang="en-US" b="1" dirty="0" err="1"/>
              <a:t>chủ</a:t>
            </a:r>
            <a:endParaRPr lang="en-US" b="1" i="1" dirty="0"/>
          </a:p>
        </p:txBody>
      </p:sp>
      <p:sp>
        <p:nvSpPr>
          <p:cNvPr id="6" name="TextBox 5"/>
          <p:cNvSpPr txBox="1"/>
          <p:nvPr/>
        </p:nvSpPr>
        <p:spPr>
          <a:xfrm>
            <a:off x="8571345" y="5941497"/>
            <a:ext cx="471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53129" y="5911334"/>
            <a:ext cx="403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3.2: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8" name="Image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890" y="2181744"/>
            <a:ext cx="7514128" cy="372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0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1" y="274638"/>
            <a:ext cx="8728364" cy="507240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3: XÂY DỰNG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GIỚI THIỆU GIAO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</a:p>
          <a:p>
            <a:pPr marL="0" indent="0">
              <a:buNone/>
            </a:pPr>
            <a:r>
              <a:rPr lang="en-US" b="1"/>
              <a:t>	</a:t>
            </a: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3.1.3 Giao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giỏ hàng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89819" y="5941497"/>
            <a:ext cx="45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14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53129" y="5911334"/>
            <a:ext cx="403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3.3: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giỏ hàng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401" y="2201585"/>
            <a:ext cx="7408544" cy="34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3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1" y="274638"/>
            <a:ext cx="8728364" cy="507240"/>
          </a:xfrm>
        </p:spPr>
        <p:txBody>
          <a:bodyPr/>
          <a:lstStyle/>
          <a:p>
            <a:r>
              <a:rPr lang="en-US" sz="3200" dirty="0"/>
              <a:t>CHƯƠNG 3: XÂY DỰNG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3.1 GIỚI THIỆU GIAO </a:t>
            </a:r>
            <a:r>
              <a:rPr lang="en-US" b="1" dirty="0" smtClean="0"/>
              <a:t>DIỆN</a:t>
            </a:r>
          </a:p>
          <a:p>
            <a:pPr marL="0" indent="0">
              <a:buNone/>
            </a:pPr>
            <a:r>
              <a:rPr lang="en-US" b="1"/>
              <a:t>	</a:t>
            </a:r>
            <a:r>
              <a:rPr lang="en-US" b="1" smtClean="0"/>
              <a:t>3.1.4 Giao </a:t>
            </a:r>
            <a:r>
              <a:rPr lang="en-US" b="1" dirty="0" err="1"/>
              <a:t>diện</a:t>
            </a:r>
            <a:r>
              <a:rPr lang="en-US" b="1" dirty="0"/>
              <a:t> </a:t>
            </a:r>
            <a:r>
              <a:rPr lang="en-US" b="1" err="1"/>
              <a:t>trang</a:t>
            </a:r>
            <a:r>
              <a:rPr lang="en-US" b="1"/>
              <a:t> </a:t>
            </a:r>
            <a:r>
              <a:rPr lang="en-US" b="1" smtClean="0"/>
              <a:t>thanh toán</a:t>
            </a:r>
            <a:endParaRPr lang="en-US" b="1" i="1" dirty="0"/>
          </a:p>
        </p:txBody>
      </p:sp>
      <p:sp>
        <p:nvSpPr>
          <p:cNvPr id="6" name="TextBox 5"/>
          <p:cNvSpPr txBox="1"/>
          <p:nvPr/>
        </p:nvSpPr>
        <p:spPr>
          <a:xfrm>
            <a:off x="8599055" y="5941497"/>
            <a:ext cx="44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53129" y="5911334"/>
            <a:ext cx="403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smtClean="0">
                <a:latin typeface="Arial" panose="020B0604020202020204" pitchFamily="34" charset="0"/>
                <a:cs typeface="Arial" panose="020B0604020202020204" pitchFamily="34" charset="0"/>
              </a:rPr>
              <a:t>3.4: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smtClean="0">
                <a:latin typeface="Arial" panose="020B0604020202020204" pitchFamily="34" charset="0"/>
                <a:cs typeface="Arial" panose="020B0604020202020204" pitchFamily="34" charset="0"/>
              </a:rPr>
              <a:t>thanh toán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475" y="2043905"/>
            <a:ext cx="7485034" cy="376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61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96672" y="218653"/>
            <a:ext cx="11028783" cy="507240"/>
          </a:xfrm>
        </p:spPr>
        <p:txBody>
          <a:bodyPr/>
          <a:lstStyle/>
          <a:p>
            <a:r>
              <a:rPr lang="en-US" sz="3000" dirty="0"/>
              <a:t>CHƯƠNG 4: KẾT LUẬN VÀ HƯỚNG PHÁT TRIỂN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4.1 </a:t>
            </a:r>
            <a:r>
              <a:rPr lang="en-US" b="1" smtClean="0"/>
              <a:t>Kết quả đạt được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455891" y="5941497"/>
            <a:ext cx="58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840" y="1783211"/>
            <a:ext cx="798576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Xây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dựng được website bán hàng hoạt động ở môi trường local. </a:t>
            </a: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Hoàn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thiện các chức năng cơ bản: xem sản phẩm, tìm kiếm, giỏ hàng, đặt hàng và theo dõi đơn hàng. </a:t>
            </a: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Thiết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kế và xây dựng được cơ sở dữ liệu phù hợp với nghiệp vụ bán hàng. </a:t>
            </a: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vi-VN" smtClean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diện thân thiện, dễ sử dụng đối với người dùng.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63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14221" y="166719"/>
            <a:ext cx="11028783" cy="507240"/>
          </a:xfrm>
        </p:spPr>
        <p:txBody>
          <a:bodyPr/>
          <a:lstStyle/>
          <a:p>
            <a:r>
              <a:rPr lang="en-US" sz="3000" dirty="0"/>
              <a:t>CHƯƠNG 4: KẾT LUẬN VÀ HƯỚNG PHÁT TRIỂN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b="1" smtClean="0"/>
              <a:t>4.2</a:t>
            </a:r>
            <a:r>
              <a:rPr lang="en-US" b="1" smtClean="0"/>
              <a:t> Hạn chế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	</a:t>
            </a:r>
            <a:endParaRPr lang="vi-V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599055" y="5941497"/>
            <a:ext cx="44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3610" y="1798163"/>
            <a:ext cx="80037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Hệ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thống chỉ chạy ở môi trường local, chưa triển khai thực tế. </a:t>
            </a:r>
            <a:endParaRPr lang="en-US" sz="24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Chưa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tích hợp cổng thanh toán trực tuyến. Một số chức năng nâng cao chưa được triển khai.</a:t>
            </a:r>
            <a:endParaRPr lang="vi-V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91009" y="116017"/>
            <a:ext cx="11028783" cy="507240"/>
          </a:xfrm>
        </p:spPr>
        <p:txBody>
          <a:bodyPr/>
          <a:lstStyle/>
          <a:p>
            <a:r>
              <a:rPr lang="en-US" sz="3000" dirty="0"/>
              <a:t>CHƯƠNG 4: KẾT LUẬN VÀ HƯỚNG PHÁT TRIỂN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b="1" dirty="0"/>
              <a:t>4.3 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5891" y="5941497"/>
            <a:ext cx="58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1517" y="1864698"/>
            <a:ext cx="713001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Triển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khai hệ thống lên môi trường online</a:t>
            </a: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Tích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hợp các cổng thanh toán trực </a:t>
            </a: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endParaRPr lang="en-US" sz="24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Nâng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cao tính bảo mật và tối ưu hiệu năng hệ thống</a:t>
            </a: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Bổ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sung thêm các chức năng quản lý và thống kê nâng cao.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9DB7F9-D416-7150-13C5-47D150B4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893F2C5-6598-1F11-1167-A1FE540EC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vi-VN" sz="3600" dirty="0" smtClean="0">
                <a:latin typeface="+mj-lt"/>
              </a:rPr>
              <a:t>CẢM ƠN </a:t>
            </a:r>
            <a:r>
              <a:rPr lang="vi-VN" sz="3600" dirty="0">
                <a:latin typeface="+mj-lt"/>
              </a:rPr>
              <a:t>QUÝ</a:t>
            </a:r>
            <a:r>
              <a:rPr lang="vi-VN" sz="3600" dirty="0" smtClean="0">
                <a:latin typeface="+mj-lt"/>
              </a:rPr>
              <a:t> THẦY CÔ ĐÃ </a:t>
            </a:r>
          </a:p>
          <a:p>
            <a:pPr marL="0" indent="0" algn="ctr">
              <a:buNone/>
            </a:pPr>
            <a:r>
              <a:rPr lang="vi-VN" sz="3600" dirty="0" smtClean="0">
                <a:latin typeface="+mj-lt"/>
              </a:rPr>
              <a:t>LẮNG NGHE BÀI THUYẾT TRÌNH</a:t>
            </a:r>
            <a:endParaRPr lang="vi-VN" sz="36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55891" y="5941497"/>
            <a:ext cx="58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19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4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673</Words>
  <Application>Microsoft Office PowerPoint</Application>
  <PresentationFormat>On-screen Show (4:3)</PresentationFormat>
  <Paragraphs>104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  ĐỀ TÀI: XÂY DỰNG WEBSITE BÁN LAPTOP </vt:lpstr>
      <vt:lpstr>LÝ DO CHỌN ĐỀ TÀI</vt:lpstr>
      <vt:lpstr>PHẦN 1: CƠ SỞ LÝ THUYẾT</vt:lpstr>
      <vt:lpstr>CHƯƠNG 2 : PHÂN TÍCH THIẾT KẾ HỆ THỐNG</vt:lpstr>
      <vt:lpstr>CHƯƠNG 2 : PHÂN TÍCH THIẾT KẾ HỆ THỐNG</vt:lpstr>
      <vt:lpstr>CHƯƠNG 2 : PHÂN TÍCH THIẾT KẾ HỆ THỐNG</vt:lpstr>
      <vt:lpstr>CHƯƠNG 2 : PHÂN TÍCH THIẾT KẾ HỆ THỐNG</vt:lpstr>
      <vt:lpstr>CHƯƠNG 2 : PHÂN TÍCH THIẾT KẾ HỆ THỐNG</vt:lpstr>
      <vt:lpstr>CHƯƠNG 2 : PHÂN TÍCH THIẾT KẾ HỆ THỐNG</vt:lpstr>
      <vt:lpstr>CHƯƠNG 2 : PHÂN TÍCH THIẾT KẾ HỆ THỐNG</vt:lpstr>
      <vt:lpstr>CHƯƠNG 2 : PHÂN TÍCH THIẾT KẾ HỆ THỐNG</vt:lpstr>
      <vt:lpstr>CHƯƠNG 3: XÂY DỰNG WEBSITE</vt:lpstr>
      <vt:lpstr>CHƯƠNG 3: XÂY DỰNG WEBSITE</vt:lpstr>
      <vt:lpstr>CHƯƠNG 3: XÂY DỰNG WEBSITE</vt:lpstr>
      <vt:lpstr>CHƯƠNG 3: XÂY DỰNG WEBSITE</vt:lpstr>
      <vt:lpstr>CHƯƠNG 4: KẾT LUẬN VÀ HƯỚNG PHÁT TRIỂN</vt:lpstr>
      <vt:lpstr>CHƯƠNG 4: KẾT LUẬN VÀ HƯỚNG PHÁT TRIỂN</vt:lpstr>
      <vt:lpstr>CHƯƠNG 4: KẾT LUẬN VÀ HƯỚNG PHÁT TRIỂN</vt:lpstr>
      <vt:lpstr>PowerPoint Presentation</vt:lpstr>
    </vt:vector>
  </TitlesOfParts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QUẢN LÝ DỰ ÁN PHẦN MỀM</dc:title>
  <dc:creator>Khac Quoc</dc:creator>
  <dc:description>generated using python-pptx</dc:description>
  <cp:lastModifiedBy>TRUONG VU</cp:lastModifiedBy>
  <cp:revision>172</cp:revision>
  <dcterms:created xsi:type="dcterms:W3CDTF">2013-01-27T09:14:16Z</dcterms:created>
  <dcterms:modified xsi:type="dcterms:W3CDTF">2026-01-09T06:36:24Z</dcterms:modified>
</cp:coreProperties>
</file>